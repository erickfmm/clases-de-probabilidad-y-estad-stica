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Datos ordenados</c:v>
                </c:pt>
              </c:strCache>
            </c:strRef>
          </c:tx>
          <c:spPr>
            <a:solidFill>
              <a:srgbClr val="2980B9"/>
            </a:solidFill>
          </c:spPr>
          <c:cat>
            <c:strRef>
              <c:f>Sheet1!$A$2:$A$6</c:f>
              <c:strCache>
                <c:ptCount val="5"/>
                <c:pt idx="0">
                  <c:v>1.50m</c:v>
                </c:pt>
                <c:pt idx="1">
                  <c:v>1.60m</c:v>
                </c:pt>
                <c:pt idx="2">
                  <c:v>1.70m (Mediana)</c:v>
                </c:pt>
                <c:pt idx="3">
                  <c:v>1.80m</c:v>
                </c:pt>
                <c:pt idx="4">
                  <c:v>1.90m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Distribución</c:v>
                </c:pt>
              </c:strCache>
            </c:strRef>
          </c:tx>
          <c:spPr>
            <a:solidFill>
              <a:srgbClr val="2980B9"/>
            </a:solidFill>
          </c:spPr>
          <c:cat>
            <c:strRef>
              <c:f>Sheet1!$A$2:$A$10</c:f>
              <c:strCache>
                <c:ptCount val="9"/>
                <c:pt idx="0">
                  <c:v>2</c:v>
                </c:pt>
                <c:pt idx="1">
                  <c:v>4 (Q1=5)</c:v>
                </c:pt>
                <c:pt idx="2">
                  <c:v>6</c:v>
                </c:pt>
                <c:pt idx="3">
                  <c:v>8</c:v>
                </c:pt>
                <c:pt idx="4">
                  <c:v>10 (Q2)</c:v>
                </c:pt>
                <c:pt idx="5">
                  <c:v>12</c:v>
                </c:pt>
                <c:pt idx="6">
                  <c:v>14 (Q3=15)</c:v>
                </c:pt>
                <c:pt idx="7">
                  <c:v>16</c:v>
                </c:pt>
                <c:pt idx="8">
                  <c:v>18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Medidas de Posición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¡Descubriendo dónde está cada dato en el grupo!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¿Qué son las Medidas de Posición?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¡Imagina una fila de personas ordenadas por altura! 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Nos dicen en qué lugar está un dato comparado con los demás.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Responden preguntas como: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¿Quién está justo en el medio de la fila?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¿Qué altura tiene la persona que es más alta que el 75 por ciento del grupo?</a:t>
            </a:r>
          </a:p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¡Es como saber en qué puesto quedaste en una carrera!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La Mediana: ¡El Corazón de los Datos!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2C3E50"/>
                </a:solidFill>
              </a:defRPr>
            </a:pPr>
            <a:r>
              <a:t>Es el dato que está JUSTO en el medio de la lista ordenada.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La mitad (50 por ciento) de los datos son más pequeños que ella.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La otra mitad (50 por ciento) son más grandes.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¡Es el estudiante del centro en una fila ordenada por notas!</a:t>
            </a:r>
          </a:p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Alturas: 1.50m, 1.60m, 1.70m, 1.80m, 1.90m</a:t>
            </a:r>
          </a:p>
          <a:p>
            <a:r>
              <a:rPr sz="1600"/>
              <a:t>🔢 </a:t>
            </a:r>
            <a:r>
              <a:rPr sz="1600" i="1">
                <a:solidFill>
                  <a:srgbClr val="2980B9"/>
                </a:solidFill>
              </a:rPr>
              <a:t>La Mediana es 1.70m (¡el del medio!)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Visualización - La Mediana en el Centro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371600" y="1828800"/>
          <a:ext cx="6400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Cómo Encontrar la Mediana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2C3E50"/>
                </a:solidFill>
              </a:defRPr>
            </a:pPr>
            <a:r>
              <a:t>Paso 1: ¡Ordena los datos de menor a mayor!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Paso 2: Si la cantidad de datos es IMPAR, la mediana es el del centro.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Paso 3: Si la cantidad es PAR, la mediana es el promedio de los DOS del centro.</a:t>
            </a:r>
          </a:p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Datos: 3, 7, 2, 9, 5 → Ordenados: 2, 3, 5, 7, 9</a:t>
            </a:r>
          </a:p>
          <a:p>
            <a:r>
              <a:rPr sz="1600"/>
              <a:t>🔢 </a:t>
            </a:r>
            <a:r>
              <a:rPr sz="1600" i="1">
                <a:solidFill>
                  <a:srgbClr val="2980B9"/>
                </a:solidFill>
              </a:rPr>
              <a:t>La Mediana es 5 (el valor del medio).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Mediana con Cantidad Par de Datos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Datos: 4, 8, 6, 2, 10, 12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Paso 1: Ordenar → 2, 4, 6, 8, 10, 12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Paso 2: Los dos del centro son 6 y 8.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Paso 3: ¡Calculamos su promedio!</a:t>
            </a:r>
          </a:p>
          <a:p>
            <a:r>
              <a:rPr sz="1600"/>
              <a:t>🔢 </a:t>
            </a:r>
            <a:r>
              <a:rPr sz="1600" i="1">
                <a:solidFill>
                  <a:srgbClr val="2980B9"/>
                </a:solidFill>
              </a:rPr>
              <a:t>Mediana = (6 + 8) / 2 = 7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¡A veces la mediana no es uno de los datos originales!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¿Qué son los Cuartiles? ¡La Pizza de Datos!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2C3E50"/>
                </a:solidFill>
              </a:defRPr>
            </a:pPr>
            <a:r>
              <a:t>¡Dividen tus datos ordenados en 4 partes iguales!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¡Como cortar una pizza en 4 trozos!  Cada trozo es un 25 por ciento.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Q1 (Cuartil 1): El 25 por ciento de los datos es menor que este valor.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Q2 (Cuartil 2): ¡Es la Mediana! El 50 por ciento de los datos es menor.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Q3 (Cuartil 3): El 75 por ciento de los datos es menor que este valor.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Los Cuartiles como Puntos de Control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2C3E50"/>
                </a:solidFill>
              </a:defRPr>
            </a:pPr>
            <a:r>
              <a:t>Q1: Supera al 25 por ciento de los datos.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Q2 (Mediana): Supera al 50 por ciento de los datos.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Q3: Supera al 75 por ciento de los datos.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¡Son como las marcas de 1/4, 1/2 y 3/4 en una carrera! </a:t>
            </a:r>
          </a:p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Si el Q3 de salarios es S/3000, significa que el 75 por ciento de la gente gana menos que eso.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Ejemplo de Cuartiles Paso a Paso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/>
              <a:t>❓ </a:t>
            </a:r>
            <a:r>
              <a:rPr sz="1600" i="1">
                <a:solidFill>
                  <a:srgbClr val="E74C3C"/>
                </a:solidFill>
              </a:rPr>
              <a:t>Datos ordenados: 2, 4, 6, 8, 10, 12, 14, 16, 18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1. Encontramos la mediana (Q2): el valor central es 10.</a:t>
            </a:r>
          </a:p>
          <a:p>
            <a:r>
              <a:rPr sz="1600"/>
              <a:t>🔢 </a:t>
            </a:r>
            <a:r>
              <a:rPr sz="1600" i="1">
                <a:solidFill>
                  <a:srgbClr val="2980B9"/>
                </a:solidFill>
              </a:rPr>
              <a:t>Q2 (Mediana) = 10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2. Ahora miramos la mitad de abajo: 2, 4, 6, 8. La mediana de este grupo es Q1.</a:t>
            </a:r>
          </a:p>
          <a:p>
            <a:r>
              <a:rPr sz="1600"/>
              <a:t>🔢 </a:t>
            </a:r>
            <a:r>
              <a:rPr sz="1600" i="1">
                <a:solidFill>
                  <a:srgbClr val="2980B9"/>
                </a:solidFill>
              </a:rPr>
              <a:t>Q1 = (4+6)/2 = 5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3. Hacemos lo mismo con la mitad de arriba: 12, 14, 16, 18. La mediana es Q3.</a:t>
            </a:r>
          </a:p>
          <a:p>
            <a:r>
              <a:rPr sz="1600"/>
              <a:t>🔢 </a:t>
            </a:r>
            <a:r>
              <a:rPr sz="1600" i="1">
                <a:solidFill>
                  <a:srgbClr val="2980B9"/>
                </a:solidFill>
              </a:rPr>
              <a:t>Q3 = (14+16)/2 =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Visualización - Los Cuartiles en Acción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371600" y="1828800"/>
          <a:ext cx="6400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Interpretando los Cuartiles del Ejemplo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Q1=5, Q2=10, Q3=15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Interpretación: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 El 25 por ciento de los datos son 5 o menos.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 El 50 por ciento de los datos son 10 o menos.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 El 75 por ciento de los datos son 15 o menos.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¡Los cuartiles nos cuentan cómo se reparten los datos!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¿Y los Percentiles? ¡Aún más preciso!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2C3E50"/>
                </a:solidFill>
              </a:defRPr>
            </a:pPr>
            <a:r>
              <a:t>¡Dividen los datos en 100 partes iguales!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¡Como una regla de 100 centímetros!  Cada centímetro es un percentil.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El Percentil 80 (P₈₀) significa que el 80 por ciento de los datos son menores.</a:t>
            </a:r>
          </a:p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Si estás en el P₉₀ en una prueba, ¡felicidades! Superaste al 90 por ciento de los estudiantes.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Cuartiles y Percentiles son Familia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Cuartil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Percentil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Q1 (25 porciento)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P25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Q2 (50 porciento)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P50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Q3 (75 porciento)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P75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Ejemplo de Percentiles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En un examen, tu nota fue 85 puntos.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Te dicen que el Percentil 90 (P₉₀) fue 80 puntos.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Interpretación: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 ¡Tu nota de 85 es excelente! Superaste al 90 por ciento de la clase.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 Solo el 10 por ciento sacó una nota más alta que 80.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¡Estás en el Top 10 por ciento del grupo!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El Diagrama de Cajón (Box Plot)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2C3E50"/>
                </a:solidFill>
              </a:defRPr>
            </a:pPr>
            <a:r>
              <a:t>¡Un súper resumen visual de tus datos!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¡Es como una radiografía de tus datos en 5 números clave! 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Te muestra de un solo vistazo: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 El valor Mínimo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 Q1, Q2 (la mediana) y Q3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 El valor Máximo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Las Partes del Diagrama de Cajón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2C3E50"/>
                </a:solidFill>
              </a:defRPr>
            </a:pPr>
            <a:r>
              <a:t> La Caja: va desde Q1 hasta Q3. ¡Contiene el 50 por ciento central de los datos!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 El ancho de la caja se llama Rango Intercuartílico (RIC).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 La línea dentro de la caja: ¡es la mediana (Q2)!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 Los Bigotes: son las líneas que van desde la caja hasta el mínimo y el máximo.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¡Un dibujo vale más que mil números!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Dibujando un Box Plot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/>
              <a:t>❓ </a:t>
            </a:r>
            <a:r>
              <a:rPr sz="1600" i="1">
                <a:solidFill>
                  <a:srgbClr val="E74C3C"/>
                </a:solidFill>
              </a:rPr>
              <a:t>Datos: 5, 7, 8, 9, 10, 12, 15, 18, 20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Calculamos los 5 números clave: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Mínimo=5, Q1=8, Mediana(Q2)=10, Q3=15, Máximo=20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Y dibujamos: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Bigote izquierdo: de 5 a 8.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Caja: de 8 a 15 (con una línea en 10).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Bigote derecho: de 15 a 20.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Valores Atípicos (Outliers): ¡Los Rebeldes!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2C3E50"/>
                </a:solidFill>
              </a:defRPr>
            </a:pPr>
            <a:r>
              <a:t>Son datos que están MUY lejos del resto del grupo.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¡Como un pingüino en el desierto! No encaja. 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¿Cómo los encontramos? Con una regla simple: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Un dato es atípico si está 'demasiado lejos' de la caja.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Demasiado lejos = más de 1.5 veces el ancho de la caja (RIC).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Ejemplo de Valor Atípico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Edades en un grupo: 10, 12, 11, 13, 12, y... ¡50!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La mayoría de edades están entre 10 y 13.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El valor 50 está súper alejado del resto.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¡50 es un valor atípico! En el gráfico, se marca con un punto especial  para no distorsionar el dibujo.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Aplicación Práctica - Salarios de una Empresa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/>
              <a:t>❓ </a:t>
            </a:r>
            <a:r>
              <a:rPr sz="1600" i="1">
                <a:solidFill>
                  <a:srgbClr val="E74C3C"/>
                </a:solidFill>
              </a:rPr>
              <a:t>Salarios mensuales (S/.): 1200, 1500, 1800, 2000, 2200, 2500, 3000, 3500, 5000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Misión: Analizar estos salarios con nuestras nuevas herramientas.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Paso 1: Calcular cuartiles.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Paso 2: Dibujar el diagrama de cajón.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Paso 3: Buscar salarios 'rebeldes' (atípicos).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Solución - Cuartiles de Salarios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2C3E50"/>
                </a:solidFill>
              </a:defRPr>
            </a:pPr>
            <a:r>
              <a:t>Mínimo = 1200, Máximo = 5000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Mediana (Q2) = 2200 (el salario del medio)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Q1 (mediana de la mitad de abajo) = 1650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Q3 (mediana de la mitad de arriba) = 3250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Solución - ¿Hay Salarios Atípicos?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2C3E50"/>
                </a:solidFill>
              </a:defRPr>
            </a:pPr>
            <a:r>
              <a:t>El ancho de la caja (RIC) es 3250 - 1650 = 1600.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Calculamos los 'límites de lo normal':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Límite inferior: 1650 - 1.5 * 1600 = -750 (imposible un salario negativo)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Límite superior: 3250 + 1.5 * 1600 = 5650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Todos los salarios están dentro de estos límites.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¡No hay valores atípicos! El salario de 5000, aunque alto, no se considera 'rebelde'.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Interpretación de los Salarios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2C3E50"/>
                </a:solidFill>
              </a:defRPr>
            </a:pPr>
            <a:r>
              <a:t> El 50 por ciento central de los trabajadores gana entre S/1650 y S/3250.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 El salario más representativo (mediana) es S/2200.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 El 25 por ciento gana menos de S/1650 (los más nuevos quizás).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 El 25 por ciento gana más de S/3250 (los de más experiencia).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¡El box plot nos contó toda la historia de los salarios!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Comparando Grupos con Box Plots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2C3E50"/>
                </a:solidFill>
              </a:defRPr>
            </a:pPr>
            <a:r>
              <a:t>¡Son geniales para comparar dos o más grupos a la vez!</a:t>
            </a:r>
          </a:p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Comparar las notas de 2 salones: 5to A vs 5to B.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De un vistazo puedes ver: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 ¿Qué salón tiene mejores notas en general?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 ¿En qué salón las notas son más parecidas entre sí?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 ¿Hay algún alumno con una nota súper alta o baja (atípico)?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¡La comparación es súper visual y rápida!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Ejercicio de Práctica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/>
              <a:t>❓ </a:t>
            </a:r>
            <a:r>
              <a:rPr sz="1600" i="1">
                <a:solidFill>
                  <a:srgbClr val="E74C3C"/>
                </a:solidFill>
              </a:rPr>
              <a:t>Edades de un grupo de amigos: 15, 16, 15, 17, 16, 18, 15, 20, 16, 25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Tu Misión: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1. Ordena los datos.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2. Calcula Q1, Q2 (mediana) y Q3.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3. ¿Es la edad de 25 un valor atípico en este grupo?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¡Intenta resolverlo antes de ver la solución!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Solución del Ejercicio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2C3E50"/>
                </a:solidFill>
              </a:defRPr>
            </a:pPr>
            <a:r>
              <a:t>Ordenado: 15, 15, 15, 16, 16, 16, 17, 18, 20, 25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Q1 = 15 (la mediana de la primera mitad)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Q2 = 16 (el promedio de 16 y 16)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Q3 = 18 (la mediana de la segunda mitad)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Límite superior para atípicos: 18 + 1.5 * (18 - 15) = 22.5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Como 25 es mayor que 22.5...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¡Sí! 25 es un valor atípico. Probablemente es un amigo mayor que el resto del grupo.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¡Resumen de la Misión!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2C3E50"/>
                </a:solidFill>
              </a:defRPr>
            </a:pPr>
            <a:r>
              <a:t> Mediana: el dato del corazón del grupo.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 Cuartiles: dividen los datos en 4 trozos de pizza.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 Percentiles: dividen los datos en 100 mini-partes.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 Box Plot: la radiografía de tus datos.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 Valores Atípicos: los 'rebeldes' del grupo.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¡Ahora puedes analizar cualquier grupo y saber dónde está cada quien!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