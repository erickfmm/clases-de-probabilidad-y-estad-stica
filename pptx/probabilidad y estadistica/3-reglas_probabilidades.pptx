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Reglas de las Probabilidades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¡Calculando las posibilidades!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es la Probabilidad?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Es medir qué tan posible es que algo ocurra.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 como adivinar el futuro con matemáticas!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Va de 0 (imposible) a 1 (seguro).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También se usa en porcentajes (0 por ciento a 100 por ciento).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Al lanzar una moneda, ¿qué tan posible es que salga 'cara'?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La Escala de la Probabilidad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0 o 0 por ciento: Imposible (nunca, nunca pasa).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0.25 o 25 por ciento: Poco probable (raro que pase).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0.5 o 50 por ciento: Chance 50/50 (puede ser que sí, puede ser que no).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0.75 o 75 por ciento: Muy probable (casi siempre pasa).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1 o 100 por ciento: Seguro (siempre, siempre pasa).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¡Toda probabilidad vive en esta escala!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Visualización - La Escalera de la Probabilidad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Imposible: 0 por ciento (Que un pez vuele 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Poco probable: 25 por ciento (Sacar un 6 en un dado 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Igual de probable: 50 por ciento (Que salga 'cara' en una moneda 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Muy probable: 75 por ciento (Que mañana salga el sol 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Seguro: 100 por ciento (Que después del Lunes venga el Martes)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Palabras Clave del Juego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Experimento: La acción que hacemos (lanzar un dado).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Resultado: Lo que puede salir (los números 1, 2, 3, 4, 5, 6).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Espacio Muestral: ¡TODOS los resultados posibles! {1,2,3,4,5,6}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Evento: El resultado que nos interesa (que salga un número par {2,4,6}).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¡Con estas palabras, hablamos el idioma de las probabilidades!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La Fórmula Mágica de la Probabilidad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📐 </a:t>
            </a:r>
            <a:r>
              <a:rPr sz="1600" i="1">
                <a:solidFill>
                  <a:srgbClr val="9B59B6"/>
                </a:solidFill>
              </a:rPr>
              <a:t>Probabilidad = (Cosas que busco) / (Total de posibilidades)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Cosas que busco: los resultados que nos interesan (casos favorables).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Total de posibilidades: todos los resultados que pueden ocurrir (casos totales).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¡Es como contar tus chances de ganar!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con un Dado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Lanzamos un dado. ¿Cuál es la probabilidad de sacar un número par?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Total de posibilidades: 6 (puede salir 1, 2, 3, 4, 5 o 6).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Cosas que busco (pares): 3 (el 2, 4 y 6).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Probabilidad = 3 / 6 = 1/2 = 50 por ciento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¡Tienes un 50 por ciento de probabilidad! ¡La mitad de las veces ganarás!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Visualización - Pares vs. Impares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En un dado, la mitad de los números son pares y la otra mitad impares: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Pares: 2, 4, 6 (3 números = 50 por ciento de chance)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Impares: 1, 3, 5 (3 números = 50 por ciento de chance)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¡Por eso es una apuesta 50/50!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con Cartas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De una baraja española (40 cartas), ¿cuál es la probabilidad de sacar un As?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Total de posibilidades: 40 cartas.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Cosas que busco (Ases): Hay 4 Ases en la baraja.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Probabilidad de As = 4 / 40 = 1/10 = 10 por ciento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¡Tienes un 10 por ciento de probabilidad de sacar un As!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Regla del Complemento: ¿Y si NO pasa?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El complemento es todo lo contrario a lo que buscas.</a:t>
            </a:r>
          </a:p>
          <a:p>
            <a:r>
              <a:rPr sz="1600"/>
              <a:t>📐 </a:t>
            </a:r>
            <a:r>
              <a:rPr sz="1600" i="1">
                <a:solidFill>
                  <a:srgbClr val="9B59B6"/>
                </a:solidFill>
              </a:rPr>
              <a:t>P(que NO pase) = 1 - P(que SÍ pase)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¡Si hay 30 por ciento de chance de lluvia, hay 70 por ciento de que NO llueva!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Si P(ganar) = 0.2, entonces P(no ganar) = 1 - 0.2 = 0.8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Visualización - El Complemento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Si hay 30 por ciento de probabilidad de que llueva: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Lluvia: 30 por ciento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No Lluvia: 70 por ciento (el resto)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Total: 30 por ciento + 70 por ciento = 100 por ciento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¡Lo que pasa y lo que no pasa siempre suman el 100 por ciento!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del Complemento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En un dado, ¿cuál es la probabilidad de NO sacar un 6?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Forma larga: Contar los que no son 6 (1,2,3,4,5) → 5/6.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Forma rápida (con complemento):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P(sacar 6) = 1/6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P(NO sacar 6) = 1 - 1/6 = 5/6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¡A veces es más fácil calcular lo contrario y restar!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Regla de la Suma: ¿Probabilidad de A o B?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Se usa para calcular la probabilidad de que ocurra el evento A O el evento B.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¡OJO! Si los eventos se pueden cruzar, hay que tener cuidado.</a:t>
            </a:r>
          </a:p>
          <a:p>
            <a:r>
              <a:rPr sz="1600"/>
              <a:t>📐 </a:t>
            </a:r>
            <a:r>
              <a:rPr sz="1600" i="1">
                <a:solidFill>
                  <a:srgbClr val="9B59B6"/>
                </a:solidFill>
              </a:rPr>
              <a:t>P(A o B) = P(A) + P(B) - P(A y B juntos)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¿Por qué restamos? ¡Para no contar dos veces lo que está en ambos grupos!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Eventos que NO se pueden cruzar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Se llaman 'mutuamente excluyentes'. ¡No pueden pasar a la vez!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Al lanzar un dado, no puedes sacar un 2 y un 5 al mismo tiempo.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Para estos casos, la fórmula es más fácil:</a:t>
            </a:r>
          </a:p>
          <a:p>
            <a:r>
              <a:rPr sz="1600"/>
              <a:t>📐 </a:t>
            </a:r>
            <a:r>
              <a:rPr sz="1600" i="1">
                <a:solidFill>
                  <a:srgbClr val="9B59B6"/>
                </a:solidFill>
              </a:rPr>
              <a:t>P(A o B) = P(A) + P(B)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¡Solo sumamos porque no hay nada que contar dos veces!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de Regla de la Suma (Simple)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En una baraja (40 cartas), ¿probabilidad de sacar un As O un Rey?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Son eventos que no se cruzan (una carta no es As y Rey a la vez).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P(As) = 4/40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P(Rey) = 4/40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P(As o Rey) = 4/40 + 4/40 = 8/40 = 20 por ciento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de Regla de la Suma (con cruce)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En una baraja (52 cartas), ¿probabilidad de sacar un Corazón  O una Figura (J,Q,K)?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P(Corazón) = 13/52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P(Figura) = 12/52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¡PERO! Hay 3 cartas que son Corazón Y Figura (J, Q, K). Las contamos dos veces.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P(Corazón y Figura) = 3/52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P( o Figura) = (13/52) + (12/52) - (3/52) = 22/52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Regla de la Multiplicación: ¿A y B?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Se usa para calcular la probabilidad de que ocurra A Y LUEGO ocurra B.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¡Piensa en eventos que pasan en cadena! 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 idea clave es: ¿el primer evento afecta al segundo?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Eventos Independientes (no se afectan)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El resultado del primer evento NO cambia las probabilidades del segundo.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Lanzar una moneda dos veces. El primer resultado no afecta al segundo.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Si son independientes, la fórmula es fácil:</a:t>
            </a:r>
          </a:p>
          <a:p>
            <a:r>
              <a:rPr sz="1600"/>
              <a:t>📐 </a:t>
            </a:r>
            <a:r>
              <a:rPr sz="1600" i="1">
                <a:solidFill>
                  <a:srgbClr val="9B59B6"/>
                </a:solidFill>
              </a:rPr>
              <a:t>P(A y B) = P(A) x P(B)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¡Solo multiplicas sus probabilidades!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de Eventos Independientes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Lanzamos dos monedas. ¿Probabilidad de que ambas salgan 'cara'?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Eventos Dependientes (sí se afectan)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El resultado del primer evento SÍ cambia las probabilidades del segundo.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Sacar dos cartas de una baraja SIN devolver la primera.</a:t>
            </a:r>
          </a:p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Urna con 5 bolas rojas y 3 azules. Sacas 2 SIN devolverlas.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¿Probabilidad de sacar 2 rojas seguidas?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1ra bola: P(Roja) = 5/8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2da bola: Como ya sacaste una roja, quedan 4 rojas y 7 bolas en total.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P(2da Roja) = 4/7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P(Roja y Roja) = (5/8) x (4/7) = 20/56 ≈ 36 por ciento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Con Devolución vs. Sin Devolución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CON devolución (o reposición): Los eventos son INDEPENDIENTES. Las probabilidades NO cambian.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SIN devolución (o reposición): Los eventos son DEPENDIENTES. Las probabilidades SÍ cambian.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¡Fíjate siempre si las cosas se devuelven o no! Es la clave.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Problema de la Moneda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Lanzas una moneda 3 veces. ¿Probabilidad de sacar 3 caras seguidas?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Cada lanzamiento es independiente del anterior.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P(cara) en cada uno es 1/2.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P(Cara, Cara, Cara) = 1/2 x 1/2 x 1/2 = 1/8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¡Solo un 12.5 por ciento de probabilidad! No es tan fácil como parece.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Problema Combinado: ¡Aplica todo!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En una bolsa hay 5 canicas rojas y 3 azules.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a) ¿Probabilidad de sacar una roja?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b) ¿Probabilidad de sacar una roja O una azul?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c) ¿Probabilidad de sacar 2 rojas seguidas SIN devolverlas?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¡Vamos a resolverlo paso a paso!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Solución Parte a) y b)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Total de canicas: 5 + 3 = 8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a) P(Roja) = (canicas rojas) / (total) = 5/8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b) Roja O Azul... ¡son las únicas que hay! Es 100 por ciento seguro que sacarás una de esas.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Usando la fórmula (no se cruzan):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P(Roja o Azul) = P(Roja) + P(Azul) = 5/8 + 3/8 = 8/8 = 1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¡Una probabilidad de 1 significa que es un evento seguro!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Visualización - Distribución de Canicas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Distribución en la bolsa: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Rojas: 5 de 8 = 62.5 por ciento de la bolsa.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• Azules: 3 de 8 = 37.5 por ciento de la bolsa.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Total: 62.5 por ciento + 37.5 por ciento = 100 por ciento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Solución Parte 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Son eventos dependientes (SIN devolución).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P(1ra sea Roja) = 5/8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Después de sacar una roja, quedan 4 rojas y 7 canicas en total.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P(2da sea Roja) = 4/7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c) P(Roja y luego Roja) = (5/8) x (4/7) = 20/56 ≈ 35.7 por ciento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¡La probabilidad bajó en el segundo intento!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Tips para Resolver Problemas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1. Lee con calma: ¿El problema dice 'O' o dice 'Y'?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2. ¿Los eventos se afectan entre sí? (¿Es con o sin devolución?)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3. Escribe las probabilidades de cada evento simple primero.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4. Decide qué regla usar: Suma (para 'O') o Multiplicación (para 'Y').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5. ¡Simplifica el resultado si puedes!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Ejercicio Final de Práctica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En una caja hay 4 galletas de chocolate, 3 de vainilla y 2 de fresa. Sacas una sin mirar.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a) ¿Probabilidad de que sea de vainilla?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b) ¿Probabilidad de que sea de chocolate O de fresa?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c) Si te comes la primera (es de vainilla), ¿cuál es la probabilidad de que la segunda que saques sea de chocolate?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Solución del Ejercicio Final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Total de galletas: 4 + 3 + 2 = 9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a) P(Vainilla) = 3/9 = 1/3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b) P(Choco O Fresa) = P(Choco) + P(Fresa) = 4/9 + 2/9 = 6/9 = 2/3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c) Después de comer una de vainilla, quedan 8 galletas (4 de choco).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P(2da sea Choco) = 4/8 = 1/2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¡Resumen de la Misión!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 Probabilidad Básica: (lo que busco) / (el total).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Regla del Complemento: Para calcular la chance de que algo NO pase.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Regla de la Suma (O): Sumamos probabilidades (¡cuidado con los cruces!).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Regla de la Multiplicación (Y): Multiplicamos probabilidades (¡cuidado si se afectan!).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¡Ahora tienes los superpoderes para calcular probabilidades!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